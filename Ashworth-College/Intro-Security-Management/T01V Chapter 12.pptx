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9144000"/>
  <p:notesSz cx="6985000" cy="92837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/>
          <p:nvPr>
            <p:ph idx="2" type="hdr"/>
          </p:nvPr>
        </p:nvSpPr>
        <p:spPr>
          <a:xfrm>
            <a:off x="0" y="0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Shape 4"/>
          <p:cNvSpPr txBox="1"/>
          <p:nvPr>
            <p:ph idx="10" type="dt"/>
          </p:nvPr>
        </p:nvSpPr>
        <p:spPr>
          <a:xfrm>
            <a:off x="3956550" y="0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Shape 5"/>
          <p:cNvSpPr/>
          <p:nvPr>
            <p:ph idx="3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" name="Shape 6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1" type="ftr"/>
          </p:nvPr>
        </p:nvSpPr>
        <p:spPr>
          <a:xfrm>
            <a:off x="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Shape 100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9" name="Shape 109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2 is list of textbook LO numbers and statements</a:t>
            </a:r>
          </a:p>
        </p:txBody>
      </p:sp>
      <p:sp>
        <p:nvSpPr>
          <p:cNvPr id="110" name="Shape 110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6" name="Shape 116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2 is list of textbook LO numbers and statements</a:t>
            </a:r>
          </a:p>
        </p:txBody>
      </p:sp>
      <p:sp>
        <p:nvSpPr>
          <p:cNvPr id="117" name="Shape 117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3" name="Shape 123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Shape 124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0" name="Shape 130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Shape 131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7" name="Shape 137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Shape 138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5" name="Shape 145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Shape 146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2" name="Shape 152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Shape 153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9" name="Shape 159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Shape 160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6" name="Shape 166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Shape 167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4" name="Shape 174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Shape 175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1" name="Shape 181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Shape 182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8" name="Shape 188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Shape 189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5" name="Shape 195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Shape 196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/>
          <p:nvPr>
            <p:ph idx="2" type="sldImg"/>
          </p:nvPr>
        </p:nvSpPr>
        <p:spPr>
          <a:xfrm>
            <a:off x="1171575" y="696912"/>
            <a:ext cx="4641849" cy="3481387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02" name="Shape 202"/>
          <p:cNvSpPr txBox="1"/>
          <p:nvPr>
            <p:ph idx="1" type="body"/>
          </p:nvPr>
        </p:nvSpPr>
        <p:spPr>
          <a:xfrm>
            <a:off x="698500" y="4409757"/>
            <a:ext cx="5588000" cy="4177664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rIns="92950" tIns="46475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Shape 203"/>
          <p:cNvSpPr txBox="1"/>
          <p:nvPr>
            <p:ph idx="12" type="sldNum"/>
          </p:nvPr>
        </p:nvSpPr>
        <p:spPr>
          <a:xfrm>
            <a:off x="3956550" y="8817903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rIns="92950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0.png"/><Relationship Id="rId3" Type="http://schemas.openxmlformats.org/officeDocument/2006/relationships/image" Target="../media/image0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hapter Open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/>
          <p:nvPr/>
        </p:nvSpPr>
        <p:spPr>
          <a:xfrm>
            <a:off x="0" y="0"/>
            <a:ext cx="9144000" cy="1371599"/>
          </a:xfrm>
          <a:prstGeom prst="rect">
            <a:avLst/>
          </a:prstGeom>
          <a:solidFill>
            <a:srgbClr val="003057"/>
          </a:solidFill>
          <a:ln cap="flat" cmpd="sng" w="25400">
            <a:solidFill>
              <a:srgbClr val="003057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Shape 22"/>
          <p:cNvSpPr txBox="1"/>
          <p:nvPr>
            <p:ph type="title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23" name="Shape 23"/>
          <p:cNvSpPr txBox="1"/>
          <p:nvPr>
            <p:ph idx="1" type="body"/>
          </p:nvPr>
        </p:nvSpPr>
        <p:spPr>
          <a:xfrm>
            <a:off x="457200" y="816429"/>
            <a:ext cx="8229600" cy="4789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Shape 24"/>
          <p:cNvSpPr txBox="1"/>
          <p:nvPr>
            <p:ph idx="2" type="body"/>
          </p:nvPr>
        </p:nvSpPr>
        <p:spPr>
          <a:xfrm>
            <a:off x="5029200" y="1600200"/>
            <a:ext cx="3657600" cy="160019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Shape 25"/>
          <p:cNvSpPr txBox="1"/>
          <p:nvPr>
            <p:ph idx="3" type="body"/>
          </p:nvPr>
        </p:nvSpPr>
        <p:spPr>
          <a:xfrm>
            <a:off x="5029200" y="3200400"/>
            <a:ext cx="3657600" cy="29257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Shape 26"/>
          <p:cNvSpPr txBox="1"/>
          <p:nvPr>
            <p:ph idx="11" type="ftr"/>
          </p:nvPr>
        </p:nvSpPr>
        <p:spPr>
          <a:xfrm>
            <a:off x="93969" y="6622536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Shape 27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Shape 28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29" name="Shape 29"/>
          <p:cNvSpPr/>
          <p:nvPr/>
        </p:nvSpPr>
        <p:spPr>
          <a:xfrm>
            <a:off x="-7937" y="6435725"/>
            <a:ext cx="9161463" cy="430213"/>
          </a:xfrm>
          <a:prstGeom prst="rect">
            <a:avLst/>
          </a:prstGeom>
          <a:solidFill>
            <a:srgbClr val="003057"/>
          </a:solidFill>
          <a:ln cap="flat" cmpd="sng" w="25400">
            <a:solidFill>
              <a:srgbClr val="003057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" name="Shape 30"/>
          <p:cNvGrpSpPr/>
          <p:nvPr/>
        </p:nvGrpSpPr>
        <p:grpSpPr>
          <a:xfrm>
            <a:off x="33338" y="6400799"/>
            <a:ext cx="9156700" cy="465137"/>
            <a:chOff x="33338" y="6408737"/>
            <a:chExt cx="9156700" cy="465137"/>
          </a:xfrm>
        </p:grpSpPr>
        <p:pic>
          <p:nvPicPr>
            <p:cNvPr descr="Pearson: Always Learning Logo" id="31" name="Shape 3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3338" y="6443662"/>
              <a:ext cx="1660525" cy="430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Shape 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48588" y="6442075"/>
              <a:ext cx="1441449" cy="4302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descr="Copyright 2015, 2012, 2009" id="33" name="Shape 33"/>
            <p:cNvSpPr txBox="1"/>
            <p:nvPr/>
          </p:nvSpPr>
          <p:spPr>
            <a:xfrm>
              <a:off x="1413669" y="6408737"/>
              <a:ext cx="63166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rIns="0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0" i="0" lang="en-US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Copyright © 2018 Pearson Education, Inc. All Rights Reserved</a:t>
              </a: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Learning Objective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36" name="Shape 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80771" lvl="0" marL="118871" marR="0" rtl="0" algn="l">
              <a:spcBef>
                <a:spcPts val="1500"/>
              </a:spcBef>
              <a:buClr>
                <a:schemeClr val="lt1"/>
              </a:buClr>
              <a:buSzPct val="25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63512" lvl="1" marL="569913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016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143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143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143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143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143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143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Shape 37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Shape 38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Shape 39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and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42" name="Shape 4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782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333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016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143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143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143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143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143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143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Shape 43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Shape 44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Shape 45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/>
          <p:nvPr/>
        </p:nvSpPr>
        <p:spPr>
          <a:xfrm>
            <a:off x="0" y="0"/>
            <a:ext cx="9144000" cy="3886200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Shape 48"/>
          <p:cNvSpPr txBox="1"/>
          <p:nvPr>
            <p:ph type="ctrTitle"/>
          </p:nvPr>
        </p:nvSpPr>
        <p:spPr>
          <a:xfrm>
            <a:off x="685800" y="762000"/>
            <a:ext cx="7772400" cy="283845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49" name="Shape 49"/>
          <p:cNvSpPr txBox="1"/>
          <p:nvPr>
            <p:ph idx="1" type="subTitle"/>
          </p:nvPr>
        </p:nvSpPr>
        <p:spPr>
          <a:xfrm>
            <a:off x="674687" y="3962400"/>
            <a:ext cx="779462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ctr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ctr">
              <a:spcBef>
                <a:spcPts val="600"/>
              </a:spcBef>
              <a:buClr>
                <a:schemeClr val="accent1"/>
              </a:buClr>
              <a:buFont typeface="Noto Sans Symbols"/>
              <a:buNone/>
              <a:defRPr b="0" i="0" sz="20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ctr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ctr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ctr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ctr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ctr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ctr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Shape 50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Shape 51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Shape 52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53" name="Shape 53"/>
          <p:cNvSpPr/>
          <p:nvPr/>
        </p:nvSpPr>
        <p:spPr>
          <a:xfrm>
            <a:off x="-7937" y="6435725"/>
            <a:ext cx="9161463" cy="430213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+ Learning Objectives and Conte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/>
          <p:nvPr>
            <p:ph type="title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56" name="Shape 56"/>
          <p:cNvSpPr txBox="1"/>
          <p:nvPr>
            <p:ph idx="1" type="body"/>
          </p:nvPr>
        </p:nvSpPr>
        <p:spPr>
          <a:xfrm>
            <a:off x="457200" y="816429"/>
            <a:ext cx="8229600" cy="40276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Shape 57"/>
          <p:cNvSpPr txBox="1"/>
          <p:nvPr>
            <p:ph idx="2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782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333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016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143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143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143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143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143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143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Shape 58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Shape 59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Shape 60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Figure + Ca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/>
          <p:nvPr>
            <p:ph type="title"/>
          </p:nvPr>
        </p:nvSpPr>
        <p:spPr>
          <a:xfrm>
            <a:off x="457200" y="228600"/>
            <a:ext cx="8229600" cy="1066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Font typeface="Times New Roman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63" name="Shape 63"/>
          <p:cNvSpPr txBox="1"/>
          <p:nvPr>
            <p:ph idx="1" type="body"/>
          </p:nvPr>
        </p:nvSpPr>
        <p:spPr>
          <a:xfrm>
            <a:off x="457200" y="5368160"/>
            <a:ext cx="8229600" cy="91685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Clr>
                <a:schemeClr val="accent1"/>
              </a:buClr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Shape 64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Shape 65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Shape 66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67" name="Shape 67"/>
          <p:cNvSpPr/>
          <p:nvPr/>
        </p:nvSpPr>
        <p:spPr>
          <a:xfrm>
            <a:off x="-7937" y="6400800"/>
            <a:ext cx="9161463" cy="430213"/>
          </a:xfrm>
          <a:prstGeom prst="rect">
            <a:avLst/>
          </a:prstGeom>
          <a:solidFill>
            <a:srgbClr val="003057"/>
          </a:solidFill>
          <a:ln cap="flat" cmpd="sng" w="25400">
            <a:solidFill>
              <a:srgbClr val="003057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Shape 68"/>
          <p:cNvGrpSpPr/>
          <p:nvPr/>
        </p:nvGrpSpPr>
        <p:grpSpPr>
          <a:xfrm>
            <a:off x="93969" y="6408737"/>
            <a:ext cx="9096069" cy="463550"/>
            <a:chOff x="93969" y="6408737"/>
            <a:chExt cx="9096069" cy="463550"/>
          </a:xfrm>
        </p:grpSpPr>
        <p:sp>
          <p:nvSpPr>
            <p:cNvPr id="69" name="Shape 69"/>
            <p:cNvSpPr txBox="1"/>
            <p:nvPr/>
          </p:nvSpPr>
          <p:spPr>
            <a:xfrm>
              <a:off x="93969" y="6408737"/>
              <a:ext cx="63166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rIns="0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0" i="0" lang="en-US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Copyright © 2018 Pearson Education, Inc. All Rights Reserved</a:t>
              </a:r>
            </a:p>
          </p:txBody>
        </p:sp>
        <p:pic>
          <p:nvPicPr>
            <p:cNvPr descr="Pearson_Bound_White" id="70" name="Shape 7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748588" y="6442075"/>
              <a:ext cx="1441449" cy="4302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and Two 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73" name="Shape 73"/>
          <p:cNvSpPr txBox="1"/>
          <p:nvPr>
            <p:ph idx="1" type="body"/>
          </p:nvPr>
        </p:nvSpPr>
        <p:spPr>
          <a:xfrm>
            <a:off x="457200" y="1600200"/>
            <a:ext cx="8229600" cy="21637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290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714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270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397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397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397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397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397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397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Shape 74"/>
          <p:cNvSpPr txBox="1"/>
          <p:nvPr>
            <p:ph idx="2" type="body"/>
          </p:nvPr>
        </p:nvSpPr>
        <p:spPr>
          <a:xfrm>
            <a:off x="457200" y="3962400"/>
            <a:ext cx="8229600" cy="21637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290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714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270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397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397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397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397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397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397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Shape 75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Shape 76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Shape 77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>
            <p:ph type="title"/>
          </p:nvPr>
        </p:nvSpPr>
        <p:spPr>
          <a:xfrm>
            <a:off x="685800" y="1447800"/>
            <a:ext cx="7772400" cy="215265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Font typeface="Times New Roman"/>
              <a:buNone/>
              <a:defRPr b="1" i="0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80" name="Shape 80"/>
          <p:cNvSpPr txBox="1"/>
          <p:nvPr>
            <p:ph idx="1" type="body"/>
          </p:nvPr>
        </p:nvSpPr>
        <p:spPr>
          <a:xfrm>
            <a:off x="674687" y="3962400"/>
            <a:ext cx="779462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chemeClr val="accent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8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600"/>
              </a:spcBef>
              <a:buClr>
                <a:schemeClr val="accent1"/>
              </a:buClr>
              <a:buFont typeface="Noto Sans Symbols"/>
              <a:buNone/>
              <a:defRPr b="0" i="0" sz="16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6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300"/>
              </a:spcBef>
              <a:buClr>
                <a:schemeClr val="accent1"/>
              </a:buClr>
              <a:buFont typeface="Arial"/>
              <a:buNone/>
              <a:defRPr b="0" i="0" sz="1400" u="none" cap="none" strike="noStrike">
                <a:solidFill>
                  <a:srgbClr val="888C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Shape 81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Shape 82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Shape 83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Title 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86" name="Shape 86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Shape 87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Shape 88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/>
          <p:nvPr/>
        </p:nvSpPr>
        <p:spPr>
          <a:xfrm>
            <a:off x="-7937" y="6435725"/>
            <a:ext cx="9161463" cy="430213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" name="Shape 91"/>
          <p:cNvGrpSpPr/>
          <p:nvPr/>
        </p:nvGrpSpPr>
        <p:grpSpPr>
          <a:xfrm>
            <a:off x="93969" y="6408737"/>
            <a:ext cx="9096069" cy="463550"/>
            <a:chOff x="93969" y="6408737"/>
            <a:chExt cx="9096069" cy="463550"/>
          </a:xfrm>
        </p:grpSpPr>
        <p:sp>
          <p:nvSpPr>
            <p:cNvPr id="92" name="Shape 92"/>
            <p:cNvSpPr txBox="1"/>
            <p:nvPr/>
          </p:nvSpPr>
          <p:spPr>
            <a:xfrm>
              <a:off x="93969" y="6408737"/>
              <a:ext cx="63166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rIns="0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0" i="0" lang="en-US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Copyright © 2015, 2012, 2009 Pearson Education, Inc. All Rights Reserved</a:t>
              </a:r>
            </a:p>
          </p:txBody>
        </p:sp>
        <p:pic>
          <p:nvPicPr>
            <p:cNvPr descr="Pearson_Bound_White" id="93" name="Shape 9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748588" y="6442075"/>
              <a:ext cx="1441449" cy="4302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Shape 94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Shape 95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Shape 96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0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9144000" cy="1371599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Shape 11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>
              <a:spcBef>
                <a:spcPts val="0"/>
              </a:spcBef>
              <a:buNone/>
              <a:defRPr sz="1800"/>
            </a:lvl2pPr>
            <a:lvl3pPr indent="0" lvl="2">
              <a:spcBef>
                <a:spcPts val="0"/>
              </a:spcBef>
              <a:buNone/>
              <a:defRPr sz="1800"/>
            </a:lvl3pPr>
            <a:lvl4pPr indent="0" lvl="3">
              <a:spcBef>
                <a:spcPts val="0"/>
              </a:spcBef>
              <a:buNone/>
              <a:defRPr sz="1800"/>
            </a:lvl4pPr>
            <a:lvl5pPr indent="0" lvl="4">
              <a:spcBef>
                <a:spcPts val="0"/>
              </a:spcBef>
              <a:buNone/>
              <a:defRPr sz="1800"/>
            </a:lvl5pPr>
            <a:lvl6pPr indent="0" lvl="5">
              <a:spcBef>
                <a:spcPts val="0"/>
              </a:spcBef>
              <a:buNone/>
              <a:defRPr sz="1800"/>
            </a:lvl6pPr>
            <a:lvl7pPr indent="0" lvl="6">
              <a:spcBef>
                <a:spcPts val="0"/>
              </a:spcBef>
              <a:buNone/>
              <a:defRPr sz="1800"/>
            </a:lvl7pPr>
            <a:lvl8pPr indent="0" lvl="7">
              <a:spcBef>
                <a:spcPts val="0"/>
              </a:spcBef>
              <a:buNone/>
              <a:defRPr sz="1800"/>
            </a:lvl8pPr>
            <a:lvl9pPr indent="0" lvl="8">
              <a:spcBef>
                <a:spcPts val="0"/>
              </a:spcBef>
              <a:buNone/>
              <a:defRPr sz="1800"/>
            </a:lvl9pPr>
          </a:lstStyle>
          <a:p/>
        </p:txBody>
      </p:sp>
      <p:sp>
        <p:nvSpPr>
          <p:cNvPr id="12" name="Shape 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78232" lvl="0" marL="256032" marR="0" rtl="0" algn="l">
              <a:spcBef>
                <a:spcPts val="15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33350" lvl="1" marL="74295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101600" lvl="2" marL="11430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14300" lvl="3" marL="16002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14300" lvl="4" marL="2057400" marR="0" rtl="0" algn="l">
              <a:spcBef>
                <a:spcPts val="6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14300" lvl="5" marL="25146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14300" lvl="6" marL="29718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14300" lvl="7" marL="34290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14300" lvl="8" marL="3886200" marR="0" rtl="0" algn="l">
              <a:spcBef>
                <a:spcPts val="300"/>
              </a:spcBef>
              <a:buClr>
                <a:schemeClr val="accent1"/>
              </a:buClr>
              <a:buSzPct val="1000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Shape 13"/>
          <p:cNvSpPr txBox="1"/>
          <p:nvPr>
            <p:ph idx="11" type="ftr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Shape 14"/>
          <p:cNvSpPr txBox="1"/>
          <p:nvPr>
            <p:ph idx="10" type="dt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  <p:sp>
        <p:nvSpPr>
          <p:cNvPr id="16" name="Shape 16"/>
          <p:cNvSpPr/>
          <p:nvPr/>
        </p:nvSpPr>
        <p:spPr>
          <a:xfrm>
            <a:off x="-7937" y="6407662"/>
            <a:ext cx="9161463" cy="430213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Shape 17"/>
          <p:cNvGrpSpPr/>
          <p:nvPr/>
        </p:nvGrpSpPr>
        <p:grpSpPr>
          <a:xfrm>
            <a:off x="93969" y="6380675"/>
            <a:ext cx="9096069" cy="463550"/>
            <a:chOff x="93969" y="6408737"/>
            <a:chExt cx="9096069" cy="463550"/>
          </a:xfrm>
        </p:grpSpPr>
        <p:sp>
          <p:nvSpPr>
            <p:cNvPr descr="Pearson: Copyright 2015, 2012, 2009" id="18" name="Shape 18"/>
            <p:cNvSpPr txBox="1"/>
            <p:nvPr/>
          </p:nvSpPr>
          <p:spPr>
            <a:xfrm>
              <a:off x="93969" y="6408737"/>
              <a:ext cx="63166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rIns="0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0" i="0" lang="en-US" sz="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Copyright © 2018 Pearson Education, Inc. All Rights Reserved</a:t>
              </a:r>
            </a:p>
          </p:txBody>
        </p:sp>
        <p:pic>
          <p:nvPicPr>
            <p:cNvPr id="19" name="Shape 19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7748588" y="6442075"/>
              <a:ext cx="1441449" cy="4302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0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0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0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/>
          <p:nvPr>
            <p:ph type="title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Security:  Operations &amp; Management</a:t>
            </a:r>
          </a:p>
        </p:txBody>
      </p:sp>
      <p:sp>
        <p:nvSpPr>
          <p:cNvPr id="103" name="Shape 103"/>
          <p:cNvSpPr txBox="1"/>
          <p:nvPr>
            <p:ph idx="1" type="body"/>
          </p:nvPr>
        </p:nvSpPr>
        <p:spPr>
          <a:xfrm>
            <a:off x="6477000" y="816429"/>
            <a:ext cx="2209799" cy="478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baseline="3000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Edition</a:t>
            </a:r>
          </a:p>
        </p:txBody>
      </p:sp>
      <p:sp>
        <p:nvSpPr>
          <p:cNvPr id="104" name="Shape 104"/>
          <p:cNvSpPr txBox="1"/>
          <p:nvPr>
            <p:ph idx="2" type="body"/>
          </p:nvPr>
        </p:nvSpPr>
        <p:spPr>
          <a:xfrm>
            <a:off x="5029200" y="1600200"/>
            <a:ext cx="3657600" cy="16001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12</a:t>
            </a:r>
          </a:p>
        </p:txBody>
      </p:sp>
      <p:sp>
        <p:nvSpPr>
          <p:cNvPr id="105" name="Shape 105"/>
          <p:cNvSpPr txBox="1"/>
          <p:nvPr>
            <p:ph idx="3" type="body"/>
          </p:nvPr>
        </p:nvSpPr>
        <p:spPr>
          <a:xfrm>
            <a:off x="5029200" y="3200400"/>
            <a:ext cx="3657600" cy="292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accent1"/>
              </a:buClr>
              <a:buSzPct val="250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Risk Assessment, Security Surveys &amp; Continuity Planning</a:t>
            </a:r>
          </a:p>
        </p:txBody>
      </p:sp>
      <p:pic>
        <p:nvPicPr>
          <p:cNvPr id="106" name="Shape 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7283" y="1793173"/>
            <a:ext cx="3111707" cy="3969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 txBox="1"/>
          <p:nvPr>
            <p:ph type="title"/>
          </p:nvPr>
        </p:nvSpPr>
        <p:spPr>
          <a:xfrm>
            <a:off x="420329" y="228600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Objectives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2)</a:t>
            </a:r>
          </a:p>
        </p:txBody>
      </p:sp>
      <p:sp>
        <p:nvSpPr>
          <p:cNvPr id="113" name="Shape 1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completing this chapter, the reader should be able to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	Define risk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	Describe and explain the risk management 			process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	List and describe the types of risk that threaten 	individuals and organizations.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	Explain the Risk Assessment process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	Explain the purpose of security surveys</a:t>
            </a:r>
          </a:p>
          <a:p>
            <a:pPr indent="-118871" lvl="0" marL="118871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Objectives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2)</a:t>
            </a:r>
          </a:p>
        </p:txBody>
      </p:sp>
      <p:sp>
        <p:nvSpPr>
          <p:cNvPr id="120" name="Shape 1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	Determine risk based on vulnerability, probability, and 	criticality of loss.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	Discuss management techniques associated with risk 	elimination, reduction, and mitigation.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	Explain the purpose of business continuity plans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	Understand the main components disaster 	contingency plans.</a:t>
            </a:r>
          </a:p>
          <a:p>
            <a:pPr indent="-118871" lvl="0" marL="118871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	Evaluate risks to determine vulnerability, probability, 	and criticality of loss.</a:t>
            </a:r>
          </a:p>
          <a:p>
            <a:pPr indent="-118871" lvl="0" marL="118871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sp>
        <p:nvSpPr>
          <p:cNvPr id="127" name="Shape 1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Concept of Risk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2)</a:t>
            </a:r>
          </a:p>
        </p:txBody>
      </p:sp>
      <p:sp>
        <p:nvSpPr>
          <p:cNvPr id="134" name="Shape 1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Risk: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Definitions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 Elements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Risk Management: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Definitions</a:t>
            </a:r>
          </a:p>
          <a:p>
            <a:pPr indent="-285750" lvl="1" marL="742950" marR="0" rtl="0" algn="l">
              <a:spcBef>
                <a:spcPts val="600"/>
              </a:spcBef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Elements of the Risk Management Process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Concept of Risk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2)</a:t>
            </a:r>
          </a:p>
        </p:txBody>
      </p:sp>
      <p:sp>
        <p:nvSpPr>
          <p:cNvPr id="141" name="Shape 141"/>
          <p:cNvSpPr txBox="1"/>
          <p:nvPr>
            <p:ph idx="1" type="body"/>
          </p:nvPr>
        </p:nvSpPr>
        <p:spPr>
          <a:xfrm>
            <a:off x="304800" y="14478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Risk Management Cycle:</a:t>
            </a:r>
          </a:p>
          <a:p>
            <a:pPr indent="-256032" lvl="0" marL="256032" marR="0" rtl="0" algn="l">
              <a:spcBef>
                <a:spcPts val="150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Shape 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2125790"/>
            <a:ext cx="4495800" cy="39831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Identifying Risk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2)</a:t>
            </a:r>
          </a:p>
        </p:txBody>
      </p:sp>
      <p:sp>
        <p:nvSpPr>
          <p:cNvPr id="149" name="Shape 14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Dynamic Risk: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Static Risk: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Pure Risk: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Identifying Risk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2)</a:t>
            </a:r>
          </a:p>
        </p:txBody>
      </p:sp>
      <p:sp>
        <p:nvSpPr>
          <p:cNvPr id="156" name="Shape 15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Speculative Risk: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Operational Risk: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Legal Risk: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Reputational Risk: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Assessment Techniques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4)</a:t>
            </a:r>
          </a:p>
        </p:txBody>
      </p:sp>
      <p:sp>
        <p:nvSpPr>
          <p:cNvPr id="163" name="Shape 16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Introduction/Definitions: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Assessment Techniques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4)</a:t>
            </a:r>
          </a:p>
        </p:txBody>
      </p:sp>
      <p:sp>
        <p:nvSpPr>
          <p:cNvPr id="170" name="Shape 17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Common Criteria Security Model: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Shape 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2192053"/>
            <a:ext cx="6400799" cy="3897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Assessment Techniques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 of 4)</a:t>
            </a:r>
          </a:p>
        </p:txBody>
      </p:sp>
      <p:sp>
        <p:nvSpPr>
          <p:cNvPr id="178" name="Shape 17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Security surveys: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Completing security surveys: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Assessment Techniques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 of 4)</a:t>
            </a:r>
          </a:p>
        </p:txBody>
      </p:sp>
      <p:sp>
        <p:nvSpPr>
          <p:cNvPr id="185" name="Shape 18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Determining risk levels: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Quantifying risk:  Examples: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50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Management Techniques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 of 4)</a:t>
            </a:r>
          </a:p>
        </p:txBody>
      </p:sp>
      <p:sp>
        <p:nvSpPr>
          <p:cNvPr id="192" name="Shape 19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Introduction/Definitions: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Risk management techniques: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Avoidance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Reduction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Spreading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Transfer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Acceptance</a:t>
            </a:r>
          </a:p>
          <a:p>
            <a:pPr indent="-256032" lvl="0" marL="256032" marR="0" rtl="0" algn="l">
              <a:spcBef>
                <a:spcPts val="150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Continuity &amp; Contingency Planning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of 2)</a:t>
            </a:r>
          </a:p>
        </p:txBody>
      </p:sp>
      <p:sp>
        <p:nvSpPr>
          <p:cNvPr id="199" name="Shape 19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Introduction/Definitions: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Continuity plans: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rIns="0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Continuity &amp; Contingency Planning </a:t>
            </a: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 of 2)</a:t>
            </a:r>
          </a:p>
        </p:txBody>
      </p:sp>
      <p:sp>
        <p:nvSpPr>
          <p:cNvPr id="206" name="Shape 20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>
            <a:noAutofit/>
          </a:bodyPr>
          <a:lstStyle/>
          <a:p>
            <a:pPr indent="-256032" lvl="0" marL="25603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Contingency plans:</a:t>
            </a: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6032" lvl="0" marL="256032" marR="0" rtl="0" algn="l"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Continuity plans &amp; emergency management: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 Points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NIMS</a:t>
            </a:r>
          </a:p>
          <a:p>
            <a:pPr indent="-285750" lvl="1" marL="74295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National Response</a:t>
            </a:r>
          </a:p>
          <a:p>
            <a:pPr indent="-285750" lvl="1" marL="742950" marR="0" rtl="0" algn="l">
              <a:spcBef>
                <a:spcPts val="600"/>
              </a:spcBef>
              <a:buClr>
                <a:schemeClr val="dk2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Main Components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508 Lecture">
  <a:themeElements>
    <a:clrScheme name="Custom 4">
      <a:dk1>
        <a:srgbClr val="003057"/>
      </a:dk1>
      <a:lt1>
        <a:srgbClr val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