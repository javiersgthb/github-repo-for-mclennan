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7" name="Shape 11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Shape 159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Shape 16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Shape 166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" name="Shape 17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Shape 173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9" name="Shape 17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5" name="Shape 18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1" name="Shape 19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7" name="Shape 19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3" name="Shape 20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9" name="Shape 20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5" name="Shape 2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Relationship Id="rId3" Type="http://schemas.openxmlformats.org/officeDocument/2006/relationships/image" Target="../media/image0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hapter Open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93969" y="6622536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29" name="Shape 29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Shape 30"/>
          <p:cNvGrpSpPr/>
          <p:nvPr/>
        </p:nvGrpSpPr>
        <p:grpSpPr>
          <a:xfrm>
            <a:off x="33338" y="6400799"/>
            <a:ext cx="9156700" cy="465137"/>
            <a:chOff x="33338" y="6408737"/>
            <a:chExt cx="9156700" cy="465137"/>
          </a:xfrm>
        </p:grpSpPr>
        <p:pic>
          <p:nvPicPr>
            <p:cNvPr descr="Pearson: Always Learning Logo" id="31" name="Shape 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3338" y="6443662"/>
              <a:ext cx="1660525" cy="430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Shape 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Copyright 2015, 2012, 2009" id="33" name="Shape 33"/>
            <p:cNvSpPr txBox="1"/>
            <p:nvPr/>
          </p:nvSpPr>
          <p:spPr>
            <a:xfrm>
              <a:off x="14136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Learning Objectiv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80771" lvl="0" marL="118871" marR="0" rtl="0" algn="l">
              <a:spcBef>
                <a:spcPts val="1500"/>
              </a:spcBef>
              <a:buClr>
                <a:schemeClr val="lt1"/>
              </a:buClr>
              <a:buSzPct val="25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63512" lvl="1" marL="569913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3" name="Shape 53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+ Learning Objectives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Figure +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7" name="Shape 67"/>
          <p:cNvSpPr/>
          <p:nvPr/>
        </p:nvSpPr>
        <p:spPr>
          <a:xfrm>
            <a:off x="-7937" y="6400800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Shape 68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69" name="Shape 69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70" name="Shape 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57200" y="39624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Shape 91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92" name="Shape 92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93" name="Shape 9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Shape 9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16" name="Shape 16"/>
          <p:cNvSpPr/>
          <p:nvPr/>
        </p:nvSpPr>
        <p:spPr>
          <a:xfrm>
            <a:off x="-7937" y="6407662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Shape 17"/>
          <p:cNvGrpSpPr/>
          <p:nvPr/>
        </p:nvGrpSpPr>
        <p:grpSpPr>
          <a:xfrm>
            <a:off x="93969" y="6380675"/>
            <a:ext cx="9096069" cy="463550"/>
            <a:chOff x="93969" y="6408737"/>
            <a:chExt cx="9096069" cy="463550"/>
          </a:xfrm>
        </p:grpSpPr>
        <p:sp>
          <p:nvSpPr>
            <p:cNvPr descr="Pearson: Copyright 2015, 2012, 2009" id="18" name="Shape 18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id="19" name="Shape 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Security:  Operations &amp; Management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477000" y="816429"/>
            <a:ext cx="2209799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</a:p>
        </p:txBody>
      </p:sp>
      <p:sp>
        <p:nvSpPr>
          <p:cNvPr id="104" name="Shape 10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13</a:t>
            </a:r>
          </a:p>
        </p:txBody>
      </p:sp>
      <p:sp>
        <p:nvSpPr>
          <p:cNvPr id="105" name="Shape 10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in an International Perspective</a:t>
            </a:r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283" y="1793173"/>
            <a:ext cx="3111707" cy="396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20329" y="228600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Identify the main social and political factors that led to 	the growth of private security throughout the world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	Explain how the private security industry is regulated 	and controlled in other regions of world, 	compared to 	the United States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Assess the quality of the private security industry 	throughout the world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Compare and contrast security needs and practices 	throughout the world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Identify some unique private security activities 	throughout the world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	Explain some of the key deficiencies in the regulation 	of private security companies in various regions of the 	world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	Explain the role of Private Security Military 	Companies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	Identify major issues related to the use of Private 	Security Military Companies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	Understand the nature and extent of maritime piracy 	and various ways secure maritime shipping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	Explain the various private and public organizations 	involved in the regulation and control of 	private 	security companies throughout the world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Europe </a:t>
            </a:r>
            <a:b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5)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Former USSR: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Issues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Europe </a:t>
            </a:r>
            <a:b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5)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Yugoslavia &amp; Southern Eastern Europe: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Issues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Europe </a:t>
            </a:r>
            <a:b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5)</a:t>
            </a:r>
          </a:p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Nations in South Eastern Europe: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Issues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Europe </a:t>
            </a:r>
            <a:b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of 5)</a:t>
            </a:r>
          </a:p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European Union: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Confederation of European Security Services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Issues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Europe </a:t>
            </a:r>
            <a:b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of 5)</a:t>
            </a:r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United Kingdom: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Security Industry Authority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Public Private Partnerships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Africa</a:t>
            </a:r>
          </a:p>
        </p:txBody>
      </p:sp>
      <p:sp>
        <p:nvSpPr>
          <p:cNvPr id="169" name="Shape 16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Points: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Issues/Concerns: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Security Industry in Central &amp; South America</a:t>
            </a:r>
            <a:b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</a:p>
        </p:txBody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Points: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Issues/Concerns: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Issues &amp; Private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4)</a:t>
            </a:r>
          </a:p>
        </p:txBody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Seas Piracy: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Introduction/Definition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Nature &amp; Extent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Risk Areas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Issues &amp; Private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4)</a:t>
            </a:r>
          </a:p>
        </p:txBody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Seas Piracy (continued):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Countermeasures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International Agreements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Issues &amp; Private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5)</a:t>
            </a:r>
          </a:p>
        </p:txBody>
      </p:sp>
      <p:sp>
        <p:nvSpPr>
          <p:cNvPr id="194" name="Shape 19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Military Security Companies (PMSCs):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Introduction/Definitions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Issues &amp; Private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4)</a:t>
            </a:r>
          </a:p>
        </p:txBody>
      </p:sp>
      <p:sp>
        <p:nvSpPr>
          <p:cNvPr id="200" name="Shape 20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Military Security Companies (continued):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PMSCs &amp; the Global War on Terror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Regulating the International Private Security Industry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Introductions/Definitions: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Montreux Document: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Regulating the International Private Security Industry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212" name="Shape 2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International Code of Conduct (ICoC):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United Nations:</a:t>
            </a:r>
          </a:p>
          <a:p>
            <a:pPr indent="-2857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 Opportunities</a:t>
            </a:r>
          </a:p>
        </p:txBody>
      </p:sp>
      <p:sp>
        <p:nvSpPr>
          <p:cNvPr id="218" name="Shape 2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Military Security Companies: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08 Lecture">
  <a:themeElements>
    <a:clrScheme name="Custom 4">
      <a:dk1>
        <a:srgbClr val="003057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