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9144000"/>
  <p:notesSz cx="6985000" cy="92837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956550" y="0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Shape 100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9" name="Shape 10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2 is list of textbook LO numbers and statements</a:t>
            </a:r>
          </a:p>
        </p:txBody>
      </p:sp>
      <p:sp>
        <p:nvSpPr>
          <p:cNvPr id="110" name="Shape 110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6" name="Shape 116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2 is list of textbook LO numbers and statements</a:t>
            </a:r>
          </a:p>
        </p:txBody>
      </p:sp>
      <p:sp>
        <p:nvSpPr>
          <p:cNvPr id="117" name="Shape 117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Shape 124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0" name="Shape 130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Shape 131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7" name="Shape 137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Shape 138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4" name="Shape 144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Shape 145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1" name="Shape 151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Shape 152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8" name="Shape 158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Shape 159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5" name="Shape 165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Shape 166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2" name="Shape 172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Shape 173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9" name="Shape 17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Shape 180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6" name="Shape 186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1.png"/><Relationship Id="rId3" Type="http://schemas.openxmlformats.org/officeDocument/2006/relationships/image" Target="../media/image0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hapter Open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/>
        </p:nvSpPr>
        <p:spPr>
          <a:xfrm>
            <a:off x="0" y="0"/>
            <a:ext cx="9144000" cy="1371599"/>
          </a:xfrm>
          <a:prstGeom prst="rect">
            <a:avLst/>
          </a:prstGeom>
          <a:solidFill>
            <a:srgbClr val="003057"/>
          </a:solidFill>
          <a:ln cap="flat" cmpd="sng" w="25400">
            <a:solidFill>
              <a:srgbClr val="00305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Shape 22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23" name="Shape 23"/>
          <p:cNvSpPr txBox="1"/>
          <p:nvPr>
            <p:ph idx="1" type="body"/>
          </p:nvPr>
        </p:nvSpPr>
        <p:spPr>
          <a:xfrm>
            <a:off x="457200" y="816429"/>
            <a:ext cx="8229600" cy="4789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2" type="body"/>
          </p:nvPr>
        </p:nvSpPr>
        <p:spPr>
          <a:xfrm>
            <a:off x="5029200" y="1600200"/>
            <a:ext cx="3657600" cy="160019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Shape 25"/>
          <p:cNvSpPr txBox="1"/>
          <p:nvPr>
            <p:ph idx="3" type="body"/>
          </p:nvPr>
        </p:nvSpPr>
        <p:spPr>
          <a:xfrm>
            <a:off x="5029200" y="3200400"/>
            <a:ext cx="3657600" cy="2925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Shape 26"/>
          <p:cNvSpPr txBox="1"/>
          <p:nvPr>
            <p:ph idx="11" type="ftr"/>
          </p:nvPr>
        </p:nvSpPr>
        <p:spPr>
          <a:xfrm>
            <a:off x="93969" y="6622536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Shape 27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Shape 28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29" name="Shape 29"/>
          <p:cNvSpPr/>
          <p:nvPr/>
        </p:nvSpPr>
        <p:spPr>
          <a:xfrm>
            <a:off x="-7937" y="6435725"/>
            <a:ext cx="9161463" cy="430213"/>
          </a:xfrm>
          <a:prstGeom prst="rect">
            <a:avLst/>
          </a:prstGeom>
          <a:solidFill>
            <a:srgbClr val="003057"/>
          </a:solidFill>
          <a:ln cap="flat" cmpd="sng" w="25400">
            <a:solidFill>
              <a:srgbClr val="00305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Shape 30"/>
          <p:cNvGrpSpPr/>
          <p:nvPr/>
        </p:nvGrpSpPr>
        <p:grpSpPr>
          <a:xfrm>
            <a:off x="33338" y="6400799"/>
            <a:ext cx="9156700" cy="465137"/>
            <a:chOff x="33338" y="6408737"/>
            <a:chExt cx="9156700" cy="465137"/>
          </a:xfrm>
        </p:grpSpPr>
        <p:pic>
          <p:nvPicPr>
            <p:cNvPr descr="Pearson: Always Learning Logo" id="31" name="Shape 3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3338" y="6443662"/>
              <a:ext cx="1660525" cy="430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Shape 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descr="Copyright 2015, 2012, 2009" id="33" name="Shape 33"/>
            <p:cNvSpPr txBox="1"/>
            <p:nvPr/>
          </p:nvSpPr>
          <p:spPr>
            <a:xfrm>
              <a:off x="14136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2015, 2012, 2009 Pearson Education, Inc. All Rights Reserved</a:t>
              </a: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Learning Objective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36" name="Shape 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80771" lvl="0" marL="118871" marR="0" rtl="0" algn="l">
              <a:spcBef>
                <a:spcPts val="1500"/>
              </a:spcBef>
              <a:buClr>
                <a:schemeClr val="lt1"/>
              </a:buClr>
              <a:buSzPct val="25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63512" lvl="1" marL="569913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Shape 37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42" name="Shape 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782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33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Shape 43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/>
        </p:nvSpPr>
        <p:spPr>
          <a:xfrm>
            <a:off x="0" y="0"/>
            <a:ext cx="9144000" cy="388620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Shape 48"/>
          <p:cNvSpPr txBox="1"/>
          <p:nvPr>
            <p:ph type="ctrTitle"/>
          </p:nvPr>
        </p:nvSpPr>
        <p:spPr>
          <a:xfrm>
            <a:off x="685800" y="762000"/>
            <a:ext cx="7772400" cy="28384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49" name="Shape 49"/>
          <p:cNvSpPr txBox="1"/>
          <p:nvPr>
            <p:ph idx="1" type="subTitle"/>
          </p:nvPr>
        </p:nvSpPr>
        <p:spPr>
          <a:xfrm>
            <a:off x="674687" y="3962400"/>
            <a:ext cx="77946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ctr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ctr">
              <a:spcBef>
                <a:spcPts val="600"/>
              </a:spcBef>
              <a:buClr>
                <a:schemeClr val="accent1"/>
              </a:buClr>
              <a:buFont typeface="Noto Sans Symbols"/>
              <a:buNone/>
              <a:defRPr b="0" i="0" sz="20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ctr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ctr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Shape 50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Shape 51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53" name="Shape 53"/>
          <p:cNvSpPr/>
          <p:nvPr/>
        </p:nvSpPr>
        <p:spPr>
          <a:xfrm>
            <a:off x="-7937" y="6435725"/>
            <a:ext cx="9161463" cy="430213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+ Learning Objectives and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56" name="Shape 56"/>
          <p:cNvSpPr txBox="1"/>
          <p:nvPr>
            <p:ph idx="1" type="body"/>
          </p:nvPr>
        </p:nvSpPr>
        <p:spPr>
          <a:xfrm>
            <a:off x="457200" y="816429"/>
            <a:ext cx="8229600" cy="40276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Shape 57"/>
          <p:cNvSpPr txBox="1"/>
          <p:nvPr>
            <p:ph idx="2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782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33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Shape 58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Shape 59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Figure + Ca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/>
          <p:nvPr>
            <p:ph type="title"/>
          </p:nvPr>
        </p:nvSpPr>
        <p:spPr>
          <a:xfrm>
            <a:off x="457200" y="228600"/>
            <a:ext cx="8229600" cy="1066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63" name="Shape 63"/>
          <p:cNvSpPr txBox="1"/>
          <p:nvPr>
            <p:ph idx="1" type="body"/>
          </p:nvPr>
        </p:nvSpPr>
        <p:spPr>
          <a:xfrm>
            <a:off x="457200" y="5368160"/>
            <a:ext cx="8229600" cy="91685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Shape 64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Shape 65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Shape 66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67" name="Shape 67"/>
          <p:cNvSpPr/>
          <p:nvPr/>
        </p:nvSpPr>
        <p:spPr>
          <a:xfrm>
            <a:off x="-7937" y="6400800"/>
            <a:ext cx="9161463" cy="430213"/>
          </a:xfrm>
          <a:prstGeom prst="rect">
            <a:avLst/>
          </a:prstGeom>
          <a:solidFill>
            <a:srgbClr val="003057"/>
          </a:solidFill>
          <a:ln cap="flat" cmpd="sng" w="25400">
            <a:solidFill>
              <a:srgbClr val="00305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Shape 68"/>
          <p:cNvGrpSpPr/>
          <p:nvPr/>
        </p:nvGrpSpPr>
        <p:grpSpPr>
          <a:xfrm>
            <a:off x="93969" y="6408737"/>
            <a:ext cx="9096069" cy="463550"/>
            <a:chOff x="93969" y="6408737"/>
            <a:chExt cx="9096069" cy="463550"/>
          </a:xfrm>
        </p:grpSpPr>
        <p:sp>
          <p:nvSpPr>
            <p:cNvPr id="69" name="Shape 69"/>
            <p:cNvSpPr txBox="1"/>
            <p:nvPr/>
          </p:nvSpPr>
          <p:spPr>
            <a:xfrm>
              <a:off x="939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  <p:pic>
          <p:nvPicPr>
            <p:cNvPr descr="Pearson_Bound_White" id="70" name="Shape 7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and Two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73" name="Shape 73"/>
          <p:cNvSpPr txBox="1"/>
          <p:nvPr>
            <p:ph idx="1" type="body"/>
          </p:nvPr>
        </p:nvSpPr>
        <p:spPr>
          <a:xfrm>
            <a:off x="457200" y="1600200"/>
            <a:ext cx="8229600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290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714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270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397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397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397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397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397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397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Shape 74"/>
          <p:cNvSpPr txBox="1"/>
          <p:nvPr>
            <p:ph idx="2" type="body"/>
          </p:nvPr>
        </p:nvSpPr>
        <p:spPr>
          <a:xfrm>
            <a:off x="457200" y="3962400"/>
            <a:ext cx="8229600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290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714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270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397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397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397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397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397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397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Shape 75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Shape 76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Shape 77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>
            <a:off x="685800" y="1447800"/>
            <a:ext cx="7772400" cy="21526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Font typeface="Times New Roman"/>
              <a:buNone/>
              <a:defRPr b="1" i="0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x="674687" y="3962400"/>
            <a:ext cx="779462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600"/>
              </a:spcBef>
              <a:buClr>
                <a:schemeClr val="accent1"/>
              </a:buClr>
              <a:buFont typeface="Noto Sans Symbols"/>
              <a:buNone/>
              <a:defRPr b="0" i="0" sz="16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Shape 81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Shape 82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Shape 83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86" name="Shape 86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Shape 87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Shape 88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/>
        </p:nvSpPr>
        <p:spPr>
          <a:xfrm>
            <a:off x="-7937" y="6435725"/>
            <a:ext cx="9161463" cy="430213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Shape 91"/>
          <p:cNvGrpSpPr/>
          <p:nvPr/>
        </p:nvGrpSpPr>
        <p:grpSpPr>
          <a:xfrm>
            <a:off x="93969" y="6408737"/>
            <a:ext cx="9096069" cy="463550"/>
            <a:chOff x="93969" y="6408737"/>
            <a:chExt cx="9096069" cy="463550"/>
          </a:xfrm>
        </p:grpSpPr>
        <p:sp>
          <p:nvSpPr>
            <p:cNvPr id="92" name="Shape 92"/>
            <p:cNvSpPr txBox="1"/>
            <p:nvPr/>
          </p:nvSpPr>
          <p:spPr>
            <a:xfrm>
              <a:off x="939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  <p:pic>
          <p:nvPicPr>
            <p:cNvPr descr="Pearson_Bound_White" id="93" name="Shape 9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Shape 94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Shape 95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Shape 96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0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9144000" cy="137159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Shape 1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2" name="Shape 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782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33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16" name="Shape 16"/>
          <p:cNvSpPr/>
          <p:nvPr/>
        </p:nvSpPr>
        <p:spPr>
          <a:xfrm>
            <a:off x="-7937" y="6407662"/>
            <a:ext cx="9161463" cy="430213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Shape 17"/>
          <p:cNvGrpSpPr/>
          <p:nvPr/>
        </p:nvGrpSpPr>
        <p:grpSpPr>
          <a:xfrm>
            <a:off x="93969" y="6380675"/>
            <a:ext cx="9096069" cy="463550"/>
            <a:chOff x="93969" y="6408737"/>
            <a:chExt cx="9096069" cy="463550"/>
          </a:xfrm>
        </p:grpSpPr>
        <p:sp>
          <p:nvSpPr>
            <p:cNvPr descr="Pearson: Copyright 2015, 2012, 2009" id="18" name="Shape 18"/>
            <p:cNvSpPr txBox="1"/>
            <p:nvPr/>
          </p:nvSpPr>
          <p:spPr>
            <a:xfrm>
              <a:off x="939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  <p:pic>
          <p:nvPicPr>
            <p:cNvPr id="19" name="Shape 19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Security:  Operations &amp; Management</a:t>
            </a:r>
          </a:p>
        </p:txBody>
      </p:sp>
      <p:sp>
        <p:nvSpPr>
          <p:cNvPr id="103" name="Shape 103"/>
          <p:cNvSpPr txBox="1"/>
          <p:nvPr>
            <p:ph idx="1" type="body"/>
          </p:nvPr>
        </p:nvSpPr>
        <p:spPr>
          <a:xfrm>
            <a:off x="6477000" y="816429"/>
            <a:ext cx="2209799" cy="478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baseline="3000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Edition</a:t>
            </a:r>
          </a:p>
        </p:txBody>
      </p:sp>
      <p:sp>
        <p:nvSpPr>
          <p:cNvPr id="104" name="Shape 104"/>
          <p:cNvSpPr txBox="1"/>
          <p:nvPr>
            <p:ph idx="2" type="body"/>
          </p:nvPr>
        </p:nvSpPr>
        <p:spPr>
          <a:xfrm>
            <a:off x="5029200" y="1600200"/>
            <a:ext cx="3657600" cy="16001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14</a:t>
            </a:r>
          </a:p>
        </p:txBody>
      </p:sp>
      <p:sp>
        <p:nvSpPr>
          <p:cNvPr id="105" name="Shape 105"/>
          <p:cNvSpPr txBox="1"/>
          <p:nvPr>
            <p:ph idx="3" type="body"/>
          </p:nvPr>
        </p:nvSpPr>
        <p:spPr>
          <a:xfrm>
            <a:off x="5029200" y="3200400"/>
            <a:ext cx="3657600" cy="292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Future</a:t>
            </a:r>
          </a:p>
        </p:txBody>
      </p:sp>
      <p:pic>
        <p:nvPicPr>
          <p:cNvPr id="106" name="Shape 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283" y="1793173"/>
            <a:ext cx="3111707" cy="3969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/>
          <p:nvPr>
            <p:ph type="title"/>
          </p:nvPr>
        </p:nvSpPr>
        <p:spPr>
          <a:xfrm>
            <a:off x="420329" y="228600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Objectives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</a:t>
            </a:r>
          </a:p>
        </p:txBody>
      </p:sp>
      <p:sp>
        <p:nvSpPr>
          <p:cNvPr id="113" name="Shape 1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	Identify and discuss future trends and challenges in 	the field of security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	Evaluate the impact of globalization on the provision 	of security services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	Explain transnational private policing and how it will 	change in the future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	Discuss the concept of Human Security and the role 	of corporations in ensuring human security in the 	future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	Explain and identify some future threats and how 	security can mitigate them</a:t>
            </a:r>
          </a:p>
          <a:p>
            <a:pPr indent="-118871" lvl="0" marL="118871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Objectives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2)</a:t>
            </a:r>
          </a:p>
        </p:txBody>
      </p:sp>
      <p:sp>
        <p:nvSpPr>
          <p:cNvPr id="120" name="Shape 1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	Describe some of the new, emerging technologies 	that will be used in the future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	Discuss some of the future changes legislative trends 	and changes in the field of security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	Explain the changing nature of terrorism &amp; the role of 	security in counterterrorism efforts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	Explain and identify some of new knowledge, skills 	and abilities security personnel will need on the future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	Discuss the importance of value added and evidence-	based practices for security organizations</a:t>
            </a:r>
          </a:p>
          <a:p>
            <a:pPr indent="-118871" lvl="0" marL="118871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id="127" name="Shape 1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Globalization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</a:t>
            </a:r>
          </a:p>
        </p:txBody>
      </p:sp>
      <p:sp>
        <p:nvSpPr>
          <p:cNvPr id="134" name="Shape 1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Introduction/Definitions: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Transnational Private Policing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Global Security Assemblages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Transnational Crimes</a:t>
            </a: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Globalization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2)</a:t>
            </a:r>
          </a:p>
        </p:txBody>
      </p:sp>
      <p:sp>
        <p:nvSpPr>
          <p:cNvPr id="141" name="Shape 1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Human Security &amp; Globalization: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Introduction/Definitions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Major components of human security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issues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</a:t>
            </a:r>
          </a:p>
        </p:txBody>
      </p:sp>
      <p:sp>
        <p:nvSpPr>
          <p:cNvPr id="148" name="Shape 1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Introduction/Definitions: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Specific issues: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technology will impact security:</a:t>
            </a:r>
          </a:p>
          <a:p>
            <a:pPr indent="0" lvl="1" marL="457200" marR="0" rtl="0" algn="l">
              <a:spcBef>
                <a:spcPts val="6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Legislative Trends in Security</a:t>
            </a:r>
          </a:p>
        </p:txBody>
      </p:sp>
      <p:sp>
        <p:nvSpPr>
          <p:cNvPr id="155" name="Shape 15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Specific issues: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current state of legislation: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Where changes may occur: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Terrorism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</a:t>
            </a:r>
          </a:p>
        </p:txBody>
      </p:sp>
      <p:sp>
        <p:nvSpPr>
          <p:cNvPr id="162" name="Shape 1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Specific issues: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SWIFT &amp; terrorism: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Terrorism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2)</a:t>
            </a:r>
          </a:p>
        </p:txBody>
      </p:sp>
      <p:sp>
        <p:nvSpPr>
          <p:cNvPr id="169" name="Shape 16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Terrorists &amp; Counterterrorism: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Shifts in international terrorism: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Growth &amp; Challenges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</a:t>
            </a:r>
          </a:p>
        </p:txBody>
      </p:sp>
      <p:sp>
        <p:nvSpPr>
          <p:cNvPr id="176" name="Shape 17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Specialized training: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Changes in the profession: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Cultural competency:</a:t>
            </a: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Growth &amp; Challenges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2)</a:t>
            </a:r>
          </a:p>
        </p:txBody>
      </p:sp>
      <p:sp>
        <p:nvSpPr>
          <p:cNvPr id="183" name="Shape 18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Specialized security personnel: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Partnerships: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Changes in security-related services: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Changes in higher education: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Career Opportunities</a:t>
            </a:r>
          </a:p>
        </p:txBody>
      </p:sp>
      <p:sp>
        <p:nvSpPr>
          <p:cNvPr id="189" name="Shape 18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Video Analytics &amp; CCTV surveillance: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508 Lecture">
  <a:themeElements>
    <a:clrScheme name="Custom 4">
      <a:dk1>
        <a:srgbClr val="003057"/>
      </a:dk1>
      <a:lt1>
        <a:srgbClr val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